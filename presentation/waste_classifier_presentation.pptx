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9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54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가중치란 </a:t>
            </a:r>
            <a:r>
              <a:rPr lang="ko-KR" altLang="ko-KR" dirty="0"/>
              <a:t>클래스별 데이터 불균형을 보정하기 위해 손실 함수에 적용하는 값입니다.</a:t>
            </a:r>
            <a:br>
              <a:rPr lang="en-US" altLang="ko-KR" dirty="0"/>
            </a:br>
            <a:r>
              <a:rPr lang="ko-KR" altLang="ko-KR" dirty="0"/>
              <a:t>데이터가 적은 일반쓰레기를 틀렸다면 </a:t>
            </a:r>
            <a:r>
              <a:rPr lang="ko-KR" altLang="ko-KR" b="1" dirty="0"/>
              <a:t>더 중요하게 보고 손실을 크게 계산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특징을 찾아내는 단계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32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필터 개수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3x3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필터 크기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 함수로 음수는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양수는 그대로 사용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복잡한 패턴을 학습할 수 있도록 비선형성을 추가해줌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MaxPool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크기를 줄이는 과정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2x2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영역에서 가장 큰 값 하나만 가져옴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이미지를 그대로 가지고 있으면 데이터가 너무 많음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Flatten = 2/3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데이터를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차원으로 펼치기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완전연결층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이미지가 어떤 클래스인가 판단하는 단계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뉴런 개수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Dropout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과적합을 줄이기 위해 학습할 때 뉴런의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랜덤하게 끄고 학습하기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학습 데이터만 너무 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외워버리는거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방지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Dense(5)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각각 확률을 계산해 확률이 가장 높은 것을 판단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출력값을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확률 형태로 변환해주는 함수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Optimizer : Adam =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학습률을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자동으로 조정하면서 가중치를 업데이트해 비교적 빠르고 안정적으로 학습할 수 있기 때문에 선택함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: Cross-Entropy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클래스 분류 문제여서 모델의 예측 확률과 실제 정답의 차이를 효과적으로 계산할 수 있어서 사용함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Gpu_augment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한 장씩이 아니라 여러 장의 배치를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증강하는 함수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angles = GPU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랜덤 회전 각도를 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회전 확대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축소 등에 사용할 변환 행렬을 배치 크기만큼 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이미지에 적용할 변환 좌표를 계산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=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계산된 변환을 실제 이미지에 적용해서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배치 단위로 증강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이미지 증강이 이루어져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데이터를 기다리는 병목이 발생했기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affine_grid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grid_sample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이용해 배치 전체를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GPU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동시에 증강하도록 변경했습니다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Dropout</a:t>
            </a:r>
            <a:r>
              <a:rPr lang="en-US" altLang="ko-KR" dirty="0"/>
              <a:t> =</a:t>
            </a:r>
            <a:r>
              <a:rPr lang="ko-KR" altLang="ko-KR" dirty="0"/>
              <a:t> 학습 과정에서 일부 뉴런을 무작위로 제외함으로써 특정 특징에 과도하게 의존하는 것을 방지하고, 모델의 과적합을 완화하는 방법입니다.</a:t>
            </a:r>
            <a:br>
              <a:rPr lang="en-US" altLang="ko-KR" dirty="0"/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가중치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처음엔 원본 비율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(3.68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그대로 썼는데 오히려 다수 클래스 성능이 나빠져서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제곱근으로 완화해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1.92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배로 낮췄습니다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제곱근을 쓴 이유는 큰 가중치의 상대적인 크기를 압축할 수 있기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극단적인 보정은 완화하면서도 소수 클래스를 배려하는 효과는 유지할 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있어서입니다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실험에서는 정확도와 학습 속도 차이가 프레임워크 자체의 차이뿐만 아니라 모델 구현 방식과 학습 설정의 영향을 받는 것을 확인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ko-KR" dirty="0"/>
            </a:br>
            <a:r>
              <a:rPr lang="ko-KR" altLang="ko-KR" dirty="0"/>
              <a:t>데이터가 적은 클래스에 가중치를 부여하여 학습 편향 완화</a:t>
            </a:r>
            <a:r>
              <a:rPr lang="ko-KR" altLang="en-US" dirty="0"/>
              <a:t>하는 </a:t>
            </a:r>
            <a:r>
              <a:rPr lang="ko-KR" altLang="ko-KR" dirty="0"/>
              <a:t>클래스 가중치 실험</a:t>
            </a:r>
            <a:r>
              <a:rPr lang="ko-KR" altLang="en-US" dirty="0"/>
              <a:t>과</a:t>
            </a:r>
            <a:r>
              <a:rPr lang="ko-KR" altLang="ko-KR" dirty="0"/>
              <a:t> GPU 증강 최적화 실</a:t>
            </a:r>
            <a:r>
              <a:rPr lang="ko-KR" altLang="en-US" dirty="0"/>
              <a:t>험으로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ko-KR" b="1" dirty="0"/>
              <a:t>“프레임워크 자체의 영향이 </a:t>
            </a:r>
            <a:r>
              <a:rPr lang="ko-KR" altLang="ko-KR" b="1" dirty="0" err="1"/>
              <a:t>작았다”까지는</a:t>
            </a:r>
            <a:r>
              <a:rPr lang="ko-KR" altLang="ko-KR" b="1" dirty="0"/>
              <a:t> 네 실험만으로 증명한 것은 아니야.</a:t>
            </a:r>
            <a:r>
              <a:rPr lang="ko-KR" altLang="ko-KR" dirty="0"/>
              <a:t> </a:t>
            </a:r>
            <a:r>
              <a:rPr lang="ko-KR" altLang="ko-KR" dirty="0" err="1"/>
              <a:t>Keras와</a:t>
            </a:r>
            <a:r>
              <a:rPr lang="ko-KR" altLang="ko-KR" dirty="0"/>
              <a:t> </a:t>
            </a:r>
            <a:r>
              <a:rPr lang="ko-KR" altLang="ko-KR" dirty="0" err="1"/>
              <a:t>PyTorch에서</a:t>
            </a:r>
            <a:r>
              <a:rPr lang="ko-KR" altLang="ko-KR" dirty="0"/>
              <a:t> 완전히 동일한 학습 </a:t>
            </a:r>
            <a:r>
              <a:rPr lang="ko-KR" altLang="ko-KR" dirty="0" err="1"/>
              <a:t>설정·연산</a:t>
            </a:r>
            <a:r>
              <a:rPr lang="ko-KR" altLang="ko-KR" dirty="0"/>
              <a:t> 조건을 통제한 추가 실험이 있어야</a:t>
            </a:r>
            <a:r>
              <a:rPr lang="en-US" altLang="ko-KR" dirty="0"/>
              <a:t> </a:t>
            </a:r>
            <a:r>
              <a:rPr lang="ko-KR" altLang="en-US" dirty="0"/>
              <a:t>한다고 생각합니다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1" dirty="0"/>
              <a:t>클래스 가중치 조정</a:t>
            </a:r>
            <a:r>
              <a:rPr lang="ko-KR" altLang="ko-KR" dirty="0"/>
              <a:t> → 소수 클래스의 학습 영향력 보완</a:t>
            </a:r>
            <a:br>
              <a:rPr lang="ko-KR" altLang="ko-KR" dirty="0"/>
            </a:br>
            <a:r>
              <a:rPr lang="ko-KR" altLang="ko-KR" b="1" dirty="0"/>
              <a:t>데이터 증강</a:t>
            </a:r>
            <a:r>
              <a:rPr lang="ko-KR" altLang="ko-KR" dirty="0"/>
              <a:t> → 적은 데이터를 다양한 형태로 확장</a:t>
            </a:r>
            <a:br>
              <a:rPr lang="ko-KR" altLang="ko-KR" dirty="0"/>
            </a:br>
            <a:r>
              <a:rPr lang="ko-KR" altLang="ko-KR" b="1" dirty="0"/>
              <a:t>전이학습</a:t>
            </a:r>
            <a:r>
              <a:rPr lang="ko-KR" altLang="ko-KR" dirty="0"/>
              <a:t> → </a:t>
            </a:r>
            <a:r>
              <a:rPr lang="ko-KR" altLang="ko-KR" dirty="0" err="1"/>
              <a:t>사전학습된</a:t>
            </a:r>
            <a:r>
              <a:rPr lang="ko-KR" altLang="ko-KR" dirty="0"/>
              <a:t> 특징을 활용해 적은 데이터의 한계 보완</a:t>
            </a:r>
            <a:br>
              <a:rPr lang="ko-KR" altLang="ko-KR" dirty="0"/>
            </a:br>
            <a:r>
              <a:rPr lang="ko-KR" altLang="ko-KR" b="1" dirty="0"/>
              <a:t>추가 데이터 확보</a:t>
            </a:r>
            <a:r>
              <a:rPr lang="ko-KR" altLang="ko-KR" dirty="0"/>
              <a:t> → 클래스 불균형 완화 및 다양한 특징 학습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모바일넷</a:t>
            </a:r>
            <a:r>
              <a:rPr lang="en-US" altLang="ko-KR" dirty="0"/>
              <a:t>, </a:t>
            </a:r>
            <a:r>
              <a:rPr lang="ko-KR" altLang="en-US" dirty="0" err="1"/>
              <a:t>레스넷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사전학습모델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 err="1"/>
              <a:t>CNN이</a:t>
            </a:r>
            <a:r>
              <a:rPr lang="ko-KR" altLang="ko-KR" dirty="0"/>
              <a:t> 이미지를 분류할 때 이미지의 어느 부분을 중요하게 봤는지 보여주는 방법</a:t>
            </a:r>
            <a:r>
              <a:rPr lang="en-US" altLang="ko-KR" dirty="0"/>
              <a:t>. </a:t>
            </a:r>
            <a:r>
              <a:rPr lang="ko-KR" altLang="en-US" dirty="0" err="1"/>
              <a:t>진희님</a:t>
            </a:r>
            <a:r>
              <a:rPr lang="ko-KR" altLang="en-US" dirty="0"/>
              <a:t> 발표자료에 </a:t>
            </a:r>
            <a:r>
              <a:rPr lang="ko-KR" altLang="en-US" dirty="0" err="1"/>
              <a:t>있던걸로</a:t>
            </a:r>
            <a:r>
              <a:rPr lang="ko-KR" altLang="en-US" dirty="0"/>
              <a:t> 기억함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폐기물 이미지 분류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기반 5종 폐기물 분류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25400">
            <a:solidFill>
              <a:srgbClr val="E7A3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분리배출 오류를 줄이기 위해, 이미지 한 장으로 재질을 자동 판별하는 CNN 모델을 직접 설계·구현·검증했습니다.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송현우</a:t>
            </a: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2026.09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548640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966960" y="548640"/>
            <a:ext cx="329184" cy="329184"/>
          </a:xfrm>
          <a:prstGeom prst="ellipse">
            <a:avLst/>
          </a:prstGeom>
          <a:solidFill>
            <a:srgbClr val="6E9C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424160" y="548640"/>
            <a:ext cx="329184" cy="329184"/>
          </a:xfrm>
          <a:prstGeom prst="ellipse">
            <a:avLst/>
          </a:prstGeom>
          <a:solidFill>
            <a:srgbClr val="5C7F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81360" y="548640"/>
            <a:ext cx="329184" cy="329184"/>
          </a:xfrm>
          <a:prstGeom prst="ellipse">
            <a:avLst/>
          </a:prstGeom>
          <a:solidFill>
            <a:srgbClr val="E7A3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338560" y="548640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문제부터 기술 스택까지, 이 프로젝트의 기본 정보입니다.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1"/>
            <a:ext cx="11064240" cy="328269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60020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분리배출을 해도 재질을 헷갈려 잘못 배출되는 경우가 많아 재활용률이 떨어짐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621792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22199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221992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한 장으로 종이·유리·금속·플라스틱·일반쓰레기 5종 재질을 자동 판별하는 CNN 모델 개발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4378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843784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 ~ 2026.09 (총 4주)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621792"/>
          </a:xfrm>
          <a:prstGeom prst="rect">
            <a:avLst/>
          </a:prstGeom>
          <a:solidFill>
            <a:srgbClr val="F7F8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46557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46557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프로젝트 — 데이터 수집·전처리부터 모델 설계·학습·평가까지 전 과정 단독 수행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8736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087368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TensorFlow/Keras · PyTorch · scikit-learn · Pandas · Google Colab(GPU)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 &amp; 해결 방법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문제를 풀어야 했고, 어떤 순서로 접근했는지 정리했습니다.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48740"/>
          </a:xfrm>
          <a:prstGeom prst="roundRect">
            <a:avLst>
              <a:gd name="adj" fmla="val 4848"/>
            </a:avLst>
          </a:prstGeom>
          <a:solidFill>
            <a:srgbClr val="FBF1E4"/>
          </a:solidFill>
          <a:ln w="12700">
            <a:solidFill>
              <a:srgbClr val="F3D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687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— 두 가지를 동시에 풀어야 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93976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 (클래스 불균형): 데이터 수가 7:1까지 차이 나는 상황에서도 안정적으로 분류해야 했습니다.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 (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프레임워크별 구현 차이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</a:t>
            </a:r>
            <a:r>
              <a:rPr lang="en-US" altLang="ko-KR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구조를 </a:t>
            </a:r>
            <a:r>
              <a:rPr lang="en-US" altLang="ko-KR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</a:t>
            </a:r>
            <a:r>
              <a:rPr lang="en-US" altLang="ko-KR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구현하여</a:t>
            </a:r>
            <a:r>
              <a:rPr lang="en-US" altLang="ko-KR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프레임워크에 따른 모델 성능 차이를 비교할 필요가 있었습니다</a:t>
            </a:r>
            <a:r>
              <a:rPr lang="en-US" altLang="ko-KR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접근 — 네 번의 시행착오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77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2E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r>
              <a:rPr lang="en-US" sz="950" b="1" dirty="0">
                <a:solidFill>
                  <a:srgbClr val="2E5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4515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68.12% · PyTorch 75.36%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(격차 7.24%p)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520440" y="3840480"/>
            <a:ext cx="365760" cy="365760"/>
          </a:xfrm>
          <a:prstGeom prst="ellipse">
            <a:avLst/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5204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877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도입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64515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75.36% → 67.72%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(-7.64%p, 다수 클래스 성능 저하)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309360" y="384048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3093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877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r>
              <a:rPr lang="en-US" sz="9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완화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64515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 7.24%p → 0.79%p로 수렴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(Keras 77.08% · PyTorch 77.87%)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098280" y="3840480"/>
            <a:ext cx="365760" cy="365760"/>
          </a:xfrm>
          <a:prstGeom prst="ellipse">
            <a:avLst/>
          </a:prstGeom>
          <a:solidFill>
            <a:srgbClr val="1F4D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0982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3877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최적화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297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최적화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64515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학습 166.98초 → 45~75초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(최대 3.7배 단축, 구현 중 추가 발견)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TrashNet(garythung/trashnet, Hugging Face) — 실제 쓰레기 사진 약 5,000장. 원본 6개 클래스 중 cardboard를 paper로 통합해 5개 클래스로 재구성.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78266" y="1773936"/>
            <a:ext cx="4489988" cy="2441448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results4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30" y="1828800"/>
            <a:ext cx="438026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25896" y="2184204"/>
            <a:ext cx="5641848" cy="1300872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home/claude/results4/sample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39068"/>
            <a:ext cx="5532120" cy="1191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80760" y="35216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샘플 이미지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2F6F3"/>
          </a:solidFill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7772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분할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800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이미지 수: 5,054장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3,537장  ·  Validation: 758장  ·  Test: 759장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종이 1,994장 · 유리 1,002장 · 금속 820장 · 플라스틱 964장 · 일반쓰레기 274장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Thung &amp; Yang, TrashNet Dataset (Stanford CS229, 2016) · Hugging Face: garythung/trashnet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</a:t>
            </a:r>
            <a:r>
              <a:rPr lang="ko-KR" alt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 설계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Convolution과 Pooling을 반복해 저수준에서 고수준 특징으로 단계적으로 추상화하는 구조입니다 (Keras·PyTorch 동일 구조).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858000" cy="3566157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세부 사항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Conv2D(32, 3×3) → ReLU → MaxPool(2×2)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Conv2D(64, 3×3) → ReLU → MaxPool(2×2)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Conv2D(128, 3×3) → ReLU → MaxPool(2×2)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→ ReLU → Dropout(0.5)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Dense(5) → Softmax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2F6F3"/>
          </a:solidFill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3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학습 설정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크기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128 × 3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수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200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6469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3566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96469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4663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파라미터 수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3,305,285개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5029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파라미터 수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964692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3,305,285개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과정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구조를 Keras와 PyTorch 두 가지 방식으로 각각 구현했습니다.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" cy="2011680"/>
          </a:xfrm>
          <a:prstGeom prst="roundRect">
            <a:avLst/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517904"/>
            <a:ext cx="489204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Keras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layers.Conv2D(32,3,activation='relu'),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layers.MaxPooling2D(2),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layers.Dense(5, activation='softmax'),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loss='sparse_categorical_crossentropy')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82296" cy="2011680"/>
          </a:xfrm>
          <a:prstGeom prst="roundRect">
            <a:avLst/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336792" y="1517904"/>
            <a:ext cx="5074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PyTorch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TrashCNN(nn.Module):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self.conv1 = nn.Conv2d(3,32,3)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self.fc2 = nn.Linear(128,5)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= nn.CrossEntropyLoss(weight=w)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optim.Adam(model.parameters())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82296" cy="1463040"/>
          </a:xfrm>
          <a:prstGeom prst="roundRect">
            <a:avLst/>
          </a:prstGeom>
          <a:solidFill>
            <a:srgbClr val="1F4D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3666744"/>
            <a:ext cx="10607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PyTorch: GPU 배치 증강 — CPU 병목 해결 핵심 코드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gpu_augment(batch, degrees=18, scale_range=(0.9, 1.1)):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angles = (torch.rand(N, device=device) * 2 - 1) * max_rad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theta = torch.zeros(N, 2, 3, device=device)   # 회전·확대축소·반전 행렬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 = F.affine_grid(theta, batch.size())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F.grid_sample(batch, grid)   # 배치 전체를 GPU에서 한 번에 증강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6F3"/>
          </a:solidFill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5239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중 발견한 것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5156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학습이 느렸던 원인 — 데이터 증강이 CPU에서 이미지 단위로 처리되고 있었음 → 학습 시간 166.98초 → 45~75초로 최대 3.7배 단축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전략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· Early Stopping · Class Weight를 어디에, 왜 적용했는지 정리했습니다.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9728" cy="1051560"/>
          </a:xfrm>
          <a:prstGeom prst="rect">
            <a:avLst/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(0.5)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57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 층 직후 배치 — 전체 파라미터의 97%가 몰려 과적합 위험이 가장 큰 지점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9728" cy="1051560"/>
          </a:xfrm>
          <a:prstGeom prst="rect">
            <a:avLst/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918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손실이 5epoch 동안 정체되면 자동으로 학습을 멈추고 최적 시점 가중치로 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91440" cy="13716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087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262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0000"/>
              </a:lnSpc>
            </a:pPr>
            <a:r>
              <a:rPr lang="ko-KR" alt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과도한 보정을 줄이면서 소수 클래스에 대한 보정 효과를 유지하고 전체적인 균형을 개선 </a:t>
            </a:r>
            <a:br>
              <a:rPr lang="en-US" altLang="ko-KR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ko-KR" alt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제곱근을 적용한 이유 </a:t>
            </a:r>
            <a:r>
              <a:rPr lang="en-US" altLang="ko-KR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가중치의 상대적인 크기를 압축하여 극단적인 보정을 완화하기 위해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방법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하나만으로는 놓칠 수 있는 문제를, 여러 지표로 확인했습니다.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4F5F3"/>
          </a:solidFill>
          <a:ln w="12700">
            <a:solidFill>
              <a:srgbClr val="E2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종이 1,994장  vs  일반쓰레기 274장 — 약 7:1 불균형</a:t>
            </a:r>
            <a:endParaRPr lang="en-US" sz="14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</a:t>
            </a:r>
            <a:r>
              <a:rPr lang="en-US" altLang="ko-KR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Accuracy) : 전체 중 맞게 예측한 비율 — 다수 클래스 편향을 놓치기 쉬움</a:t>
            </a:r>
            <a:endParaRPr lang="en-US" sz="14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</a:t>
            </a:r>
            <a:r>
              <a:rPr lang="en-US" altLang="ko-KR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Precision) · </a:t>
            </a:r>
            <a:r>
              <a:rPr lang="ko-KR" altLang="en-US" sz="14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Recall) : 클래스별로 얼마나 정확하고 얼마나 빠짐없이 맞추는지 확인</a:t>
            </a:r>
            <a:endParaRPr lang="en-US" sz="14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: </a:t>
            </a: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(Precision) </a:t>
            </a: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Recall)을 종합한 점수(조화평균)</a:t>
            </a:r>
            <a:endParaRPr lang="en-US" sz="14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 행렬 </a:t>
            </a:r>
            <a:r>
              <a:rPr lang="en-US" altLang="ko-KR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Matrix) : 실제 정답과 예측을 교차로 보여주는 표 — 어디로 잘못 예측했는지 확인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1064240" cy="1234440"/>
          </a:xfrm>
          <a:prstGeom prst="roundRect">
            <a:avLst>
              <a:gd name="adj" fmla="val 4211"/>
            </a:avLst>
          </a:prstGeom>
          <a:solidFill>
            <a:srgbClr val="F2F6F3"/>
          </a:solidFill>
          <a:ln w="12700">
            <a:solidFill>
              <a:srgbClr val="DCE7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4251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다각도로 봤는가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2628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불균형이 있는 데이터에서는 모델이 다수 클래스(종이)만 잘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맞혀도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(Accuracy) 가 높게 나올 수 있습니다. 그래서 클래스별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지표와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 행렬 </a:t>
            </a:r>
            <a:r>
              <a:rPr lang="en-US" altLang="ko-KR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Matrix)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까지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함께 확인해야 실제 성능을 정확히 판단할 수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 결과 (</a:t>
            </a:r>
            <a:r>
              <a:rPr lang="en-US" sz="2800" b="1" dirty="0" err="1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PyTorch)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방식으로 각각 구현한 뒤, 결과를 비교했습니다.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7190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78.26%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94.57초  ·  추론 1.00ms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7190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309360" y="17190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81.03%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74.59초  ·  추론 0.27ms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64240" cy="137160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추론 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이미지당 추론 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3,305,285개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3,305,285개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78~81%, 파라미터 수 완전 동일 — 두 프레임워크에서 유사한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성능이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구현 모두 단일 이미지 기준 1~2ms 이내로 추론 — 단일 이미지 기준 빠른 추론 속도 확인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증강 처리</a:t>
            </a:r>
            <a:r>
              <a:rPr lang="ko-KR" altLang="ko-KR" sz="1200" dirty="0"/>
              <a:t> · </a:t>
            </a:r>
            <a:r>
              <a:rPr lang="ko-KR" alt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 등 구현 방식에 따른 차이 확인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오류 분석 (Error Analysis)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Matrix에서 발견한 패턴을 원인까지 파고들었습니다.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B03A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4533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5087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일반쓰레기 클래스의 F1이 상대적으로 낮음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9397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E5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09397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추정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05740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데이터가 274장으로 다른 클래스보다 크게 적음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8A5A9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6426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6060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Matrix에서 일부 일반쓰레기가 종이로 분류됨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BF1E4"/>
          </a:solidFill>
          <a:ln w="12700">
            <a:solidFill>
              <a:srgbClr val="F3D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406640" y="157276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오분류 사례 — 실제: 일반쓰레기 / 예측: 종이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00331" y="1755648"/>
            <a:ext cx="3681699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/home/claude/results4/misclassified_trash_as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195" y="1810512"/>
            <a:ext cx="3571971" cy="914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06640" y="27614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 → 클래스 불균형(7:1)  → 시각적 특징(구겨진 형태·무채색)이 종이와 유사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2136" y="3557016"/>
            <a:ext cx="2464767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home/claude/results4/keras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00" y="3611880"/>
            <a:ext cx="2355039" cy="20116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482523" y="3557016"/>
            <a:ext cx="2453274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/home/claude/results4/pytorch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387" y="3611880"/>
            <a:ext cx="2343546" cy="20116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방법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309360" y="36576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630936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4224528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309360" y="42245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309360" y="4791456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309360" y="479145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5358384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6E9C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6309360" y="53583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데이터 확보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성과 및 역량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프로젝트를 통해 실제로 갖추게 된 역량입니다.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777240"/>
          </a:xfrm>
          <a:prstGeom prst="rect">
            <a:avLst/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구조 설계 및 구현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777240"/>
          </a:xfrm>
          <a:prstGeom prst="rect">
            <a:avLst/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PyTorch 이중 구현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7772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26364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06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불균형 및 학습 속도 문제 분석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15400" y="1600200"/>
            <a:ext cx="2606040" cy="777240"/>
          </a:xfrm>
          <a:prstGeom prst="rect">
            <a:avLst/>
          </a:prstGeom>
          <a:solidFill>
            <a:srgbClr val="6E9C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05256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606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기반 데이터 증강으로 학습 시간 최대 3.7배 단축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방향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우선순위가 높은 세 가지 방향으로 압축했습니다.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2926080"/>
          </a:xfrm>
          <a:prstGeom prst="roundRect">
            <a:avLst>
              <a:gd name="adj" fmla="val 2500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2152" cy="548640"/>
          </a:xfrm>
          <a:prstGeom prst="rect">
            <a:avLst/>
          </a:prstGeom>
          <a:solidFill>
            <a:srgbClr val="5C7F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319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개선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/ ResNet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02152" cy="2926080"/>
          </a:xfrm>
          <a:prstGeom prst="roundRect">
            <a:avLst>
              <a:gd name="adj" fmla="val 2500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02152" cy="548640"/>
          </a:xfrm>
          <a:prstGeom prst="rect">
            <a:avLst/>
          </a:prstGeom>
          <a:solidFill>
            <a:srgbClr val="E7A3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16552" y="1691640"/>
            <a:ext cx="3319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개선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468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실험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71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/ 표준편차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02152" cy="2926080"/>
          </a:xfrm>
          <a:prstGeom prst="roundRect">
            <a:avLst>
              <a:gd name="adj" fmla="val 2500"/>
            </a:avLst>
          </a:prstGeom>
          <a:solidFill>
            <a:srgbClr val="FAFAF9"/>
          </a:solidFill>
          <a:ln w="12700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01584" y="1691640"/>
            <a:ext cx="3502152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193024" y="1691640"/>
            <a:ext cx="3319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가능성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468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9718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근거 시각화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및 피드백 환영합니다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89888" y="4206240"/>
            <a:ext cx="457200" cy="457200"/>
          </a:xfrm>
          <a:prstGeom prst="ellipse">
            <a:avLst/>
          </a:prstGeom>
          <a:solidFill>
            <a:srgbClr val="6E9C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956816" y="4206240"/>
            <a:ext cx="457200" cy="457200"/>
          </a:xfrm>
          <a:prstGeom prst="ellipse">
            <a:avLst/>
          </a:prstGeom>
          <a:solidFill>
            <a:srgbClr val="5C7F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523744" y="4206240"/>
            <a:ext cx="457200" cy="457200"/>
          </a:xfrm>
          <a:prstGeom prst="ellipse">
            <a:avLst/>
          </a:prstGeom>
          <a:solidFill>
            <a:srgbClr val="E7A3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90672" y="42062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부록: 용어 설명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발표에 등장한 용어를 정리했습니다.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053373"/>
              </p:ext>
            </p:extLst>
          </p:nvPr>
        </p:nvGraphicFramePr>
        <p:xfrm>
          <a:off x="548640" y="1554480"/>
          <a:ext cx="5349240" cy="3803904"/>
        </p:xfrm>
        <a:graphic>
          <a:graphicData uri="http://schemas.openxmlformats.org/drawingml/2006/table">
            <a:tbl>
              <a:tblPr/>
              <a:tblGrid>
                <a:gridCol w="181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이미지에서 특징을 추출하는 합성곱 연산 레이어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음수는 0으로, 양수는 그대로 통과시키는 활성화 함수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특징맵 크기를 줄이며 중요한 정보만 남기는 연산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다차원 데이터를 1차원으로 펼치는 연산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입력과 출력이 연결된 완전연결층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중 일부 뉴런을 무작위로 꺼서 과적합을 막는 기법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손실을 줄이도록 가중치를 업데이트하는 알고리즘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예측과 정답의 차이를 수치화한 손실 함수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데이터를 반복 학습하는 횟수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번에 학습에 사용하는 데이터 묶음 크기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성능이 더 안 좋아지면 학습을 자동으로 멈추는 기법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중 맞게 예측한 비율(정확도)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77455"/>
              </p:ext>
            </p:extLst>
          </p:nvPr>
        </p:nvGraphicFramePr>
        <p:xfrm>
          <a:off x="6080760" y="1554480"/>
          <a:ext cx="5349240" cy="2737104"/>
        </p:xfrm>
        <a:graphic>
          <a:graphicData uri="http://schemas.openxmlformats.org/drawingml/2006/table">
            <a:tbl>
              <a:tblPr/>
              <a:tblGrid>
                <a:gridCol w="181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예측한 것 중 실제로 맞은 비율(정밀도)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정답 중 모델이 맞게 찾아낸 비율(재현율)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Precision과 Recall을 종합한 점수(조화평균)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정답과 예측을 교차로 보여주는 표(혼동 행렬)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클래스 불균형 보정을 위해 손실 계산에 부여하는 가중치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 등 저사양 환경에 최적화된 경량 CNN 모델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깊은 층도 안정적으로 학습되게 설계된 CNN 모델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모델이 이미지의 어느 부분을 보고 판단했는지 시각화하는 기법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1970</Words>
  <Application>Microsoft Office PowerPoint</Application>
  <PresentationFormat>와이드스크린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송현우</cp:lastModifiedBy>
  <cp:revision>39</cp:revision>
  <dcterms:created xsi:type="dcterms:W3CDTF">2026-09-15T23:58:14Z</dcterms:created>
  <dcterms:modified xsi:type="dcterms:W3CDTF">2026-09-16T02:02:16Z</dcterms:modified>
</cp:coreProperties>
</file>